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280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E3E6EB"/>
                </a:solidFill>
                <a:latin typeface="IBM Plex Sans"/>
              </a:rPr>
              <a:t>СХЕМА АВАРИЙНОГО УЧАСТКА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8A93A0"/>
                </a:solidFill>
                <a:latin typeface="IBM Plex Sans"/>
              </a:rPr>
              <a:t>Программа для оформления оперативных (аварийных) схем участка шахты</a:t>
            </a:r>
          </a:p>
          <a:p>
            <a:pPr algn="l"/>
            <a:r>
              <a:rPr sz="1800" b="0" i="0">
                <a:solidFill>
                  <a:srgbClr val="8A93A0"/>
                </a:solidFill>
                <a:latin typeface="IBM Plex Sans"/>
              </a:rPr>
              <a:t>по ГОСТ и требованиям ПЛА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08A24"/>
                </a:solidFill>
                <a:latin typeface="IBM Plex Sans"/>
              </a:rPr>
              <a:t>Для горноспасательных служб и горнодобывающих предприятий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A93A0"/>
                </a:solidFill>
                <a:latin typeface="IBM Plex Sans"/>
              </a:rPr>
              <a:t>v1.003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3E6EB"/>
                </a:solidFill>
                <a:latin typeface="IBM Plex Sans"/>
              </a:rPr>
              <a:t>Проблема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640080" cy="54864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1800" b="1">
                <a:solidFill>
                  <a:srgbClr val="F08A24"/>
                </a:solidFill>
                <a:latin typeface="IBM Plex Sans"/>
              </a:rPr>
              <a:t>●  При аварии в шахте счёт идёт на минуты — а схему участка нужно оформить по ГОСТ вручную</a:t>
            </a:r>
          </a:p>
          <a:p>
            <a:pPr>
              <a:spcAft>
                <a:spcPts val="2200"/>
              </a:spcAft>
            </a:pPr>
            <a:r>
              <a:rPr sz="1800" b="1">
                <a:solidFill>
                  <a:srgbClr val="F08A24"/>
                </a:solidFill>
                <a:latin typeface="IBM Plex Sans"/>
              </a:rPr>
              <a:t>●  Рисование от руки медленно, обозначения часто не соответствуют стандарту</a:t>
            </a:r>
          </a:p>
          <a:p>
            <a:pPr>
              <a:spcAft>
                <a:spcPts val="2200"/>
              </a:spcAft>
            </a:pPr>
            <a:r>
              <a:rPr sz="1800" b="1">
                <a:solidFill>
                  <a:srgbClr val="F08A24"/>
                </a:solidFill>
                <a:latin typeface="IBM Plex Sans"/>
              </a:rPr>
              <a:t>●  Сложно быстро подготовить документ А4 для штаба ГСС, печати и передачи диспетчеру</a:t>
            </a:r>
          </a:p>
          <a:p>
            <a:pPr>
              <a:spcAft>
                <a:spcPts val="2200"/>
              </a:spcAft>
            </a:pPr>
            <a:r>
              <a:rPr sz="1800" b="1">
                <a:solidFill>
                  <a:srgbClr val="F08A24"/>
                </a:solidFill>
                <a:latin typeface="IBM Plex Sans"/>
              </a:rPr>
              <a:t>●  Нет единого архива схем по разным позициям и авариям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93A0"/>
                </a:solidFill>
                <a:latin typeface="IBM Plex Sans"/>
              </a:rPr>
              <a:t>Схема аварийного участка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0196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93A0"/>
                </a:solidFill>
                <a:latin typeface="IBM Plex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3E6EB"/>
                </a:solidFill>
                <a:latin typeface="IBM Plex Sans"/>
              </a:rPr>
              <a:t>Решение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640080" cy="54864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E3E6EB"/>
                </a:solidFill>
                <a:latin typeface="IBM Plex Sans"/>
              </a:rPr>
              <a:t>Программа позволяет за несколько минут собрать готовую аварийную схему участка:</a:t>
            </a:r>
          </a:p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E3E6EB"/>
                </a:solidFill>
                <a:latin typeface="IBM Plex Sans"/>
              </a:rPr>
              <a:t>загрузить план, расставить условные обозначения по ГОСТ и распечатать документ формата А4.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834640"/>
            <a:ext cx="2606040" cy="2926080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834640"/>
            <a:ext cx="2606040" cy="73152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08A24"/>
                </a:solidFill>
                <a:latin typeface="IBM Plex Sans"/>
              </a:rPr>
              <a:t>1. Заполнить форму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2240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A93A0"/>
                </a:solidFill>
                <a:latin typeface="IBM Plex Sans"/>
              </a:rPr>
              <a:t>Позиция, вид аварии, состав атмосферы, место происшествия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834640"/>
            <a:ext cx="2606040" cy="2926080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2834640"/>
            <a:ext cx="2606040" cy="73152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310896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08A24"/>
                </a:solidFill>
                <a:latin typeface="IBM Plex Sans"/>
              </a:rPr>
              <a:t>2. Загрузить план участка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840480"/>
            <a:ext cx="2240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A93A0"/>
                </a:solidFill>
                <a:latin typeface="IBM Plex Sans"/>
              </a:rPr>
              <a:t>Изображение выработки как подложка схемы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834640"/>
            <a:ext cx="2606040" cy="2926080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834640"/>
            <a:ext cx="2606040" cy="73152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10896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08A24"/>
                </a:solidFill>
                <a:latin typeface="IBM Plex Sans"/>
              </a:rPr>
              <a:t>3. Расставить обозначения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840480"/>
            <a:ext cx="2240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A93A0"/>
                </a:solidFill>
                <a:latin typeface="IBM Plex Sans"/>
              </a:rPr>
              <a:t>Библиотека символов по ГОСТ одним кликом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2834640"/>
            <a:ext cx="2606040" cy="2926080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69680" y="2834640"/>
            <a:ext cx="2606040" cy="73152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310896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08A24"/>
                </a:solidFill>
                <a:latin typeface="IBM Plex Sans"/>
              </a:rPr>
              <a:t>4. Экспортировать и печатать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840480"/>
            <a:ext cx="2240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8A93A0"/>
                </a:solidFill>
                <a:latin typeface="IBM Plex Sans"/>
              </a:rPr>
              <a:t>PDF, PNG, Excel — готовый документ А4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60196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93A0"/>
                </a:solidFill>
                <a:latin typeface="IBM Plex Sans"/>
              </a:rPr>
              <a:t>Схема аварийного участка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60196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93A0"/>
                </a:solidFill>
                <a:latin typeface="IBM Plex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3E6EB"/>
                </a:solidFill>
                <a:latin typeface="IBM Plex Sans"/>
              </a:rPr>
              <a:t>Ключевые возможности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640080" cy="54864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 b="1">
                <a:solidFill>
                  <a:srgbClr val="F08A24"/>
                </a:solidFill>
                <a:latin typeface="IBM Plex Sans"/>
              </a:rPr>
              <a:t>●  Структурированный ввод данных</a:t>
            </a:r>
          </a:p>
          <a:p>
            <a:pPr>
              <a:spcAft>
                <a:spcPts val="1600"/>
              </a:spcAft>
            </a:pPr>
            <a:r>
              <a:rPr sz="1300">
                <a:solidFill>
                  <a:srgbClr val="8A93A0"/>
                </a:solidFill>
                <a:latin typeface="IBM Plex Sans"/>
              </a:rPr>
              <a:t>    Позиция, дата и время, вид аварии, атмосфера, параметры выработки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F08A24"/>
                </a:solidFill>
                <a:latin typeface="IBM Plex Sans"/>
              </a:rPr>
              <a:t>●  Условные обозначения по ГОСТ</a:t>
            </a:r>
          </a:p>
          <a:p>
            <a:pPr>
              <a:spcAft>
                <a:spcPts val="1600"/>
              </a:spcAft>
            </a:pPr>
            <a:r>
              <a:rPr sz="1300">
                <a:solidFill>
                  <a:srgbClr val="8A93A0"/>
                </a:solidFill>
                <a:latin typeface="IBM Plex Sans"/>
              </a:rPr>
              <a:t>    20+ символов в 7 категориях: аварийные зоны, персонал, маршруты, инфраструктура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F08A24"/>
                </a:solidFill>
                <a:latin typeface="IBM Plex Sans"/>
              </a:rPr>
              <a:t>●  Работа с планом участка</a:t>
            </a:r>
          </a:p>
          <a:p>
            <a:pPr>
              <a:spcAft>
                <a:spcPts val="1600"/>
              </a:spcAft>
            </a:pPr>
            <a:r>
              <a:rPr sz="1300">
                <a:solidFill>
                  <a:srgbClr val="8A93A0"/>
                </a:solidFill>
                <a:latin typeface="IBM Plex Sans"/>
              </a:rPr>
              <a:t>    Загрузка, масштабирование, обрезка и поворот изображения-подложки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F08A24"/>
                </a:solidFill>
                <a:latin typeface="IBM Plex Sans"/>
              </a:rPr>
              <a:t>●  Рисование поверх схемы</a:t>
            </a:r>
          </a:p>
          <a:p>
            <a:pPr>
              <a:spcAft>
                <a:spcPts val="1600"/>
              </a:spcAft>
            </a:pPr>
            <a:r>
              <a:rPr sz="1300">
                <a:solidFill>
                  <a:srgbClr val="8A93A0"/>
                </a:solidFill>
                <a:latin typeface="IBM Plex Sans"/>
              </a:rPr>
              <a:t>    Карандаш, ластик, размещение и перемещение символов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4173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500" b="1">
                <a:solidFill>
                  <a:srgbClr val="F08A24"/>
                </a:solidFill>
                <a:latin typeface="IBM Plex Sans"/>
              </a:rPr>
              <a:t>●  Предпросмотр А4</a:t>
            </a:r>
          </a:p>
          <a:p>
            <a:pPr>
              <a:spcAft>
                <a:spcPts val="1600"/>
              </a:spcAft>
            </a:pPr>
            <a:r>
              <a:rPr sz="1300">
                <a:solidFill>
                  <a:srgbClr val="8A93A0"/>
                </a:solidFill>
                <a:latin typeface="IBM Plex Sans"/>
              </a:rPr>
              <a:t>    Мгновенный просмотр готового документа перед печатью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F08A24"/>
                </a:solidFill>
                <a:latin typeface="IBM Plex Sans"/>
              </a:rPr>
              <a:t>●  Экспорт PDF, PNG, Excel</a:t>
            </a:r>
          </a:p>
          <a:p>
            <a:pPr>
              <a:spcAft>
                <a:spcPts val="1600"/>
              </a:spcAft>
            </a:pPr>
            <a:r>
              <a:rPr sz="1300">
                <a:solidFill>
                  <a:srgbClr val="8A93A0"/>
                </a:solidFill>
                <a:latin typeface="IBM Plex Sans"/>
              </a:rPr>
              <a:t>    Печать, сохранение изображения и выгрузка данных в таблицу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F08A24"/>
                </a:solidFill>
                <a:latin typeface="IBM Plex Sans"/>
              </a:rPr>
              <a:t>●  Архив схем</a:t>
            </a:r>
          </a:p>
          <a:p>
            <a:pPr>
              <a:spcAft>
                <a:spcPts val="1600"/>
              </a:spcAft>
            </a:pPr>
            <a:r>
              <a:rPr sz="1300">
                <a:solidFill>
                  <a:srgbClr val="8A93A0"/>
                </a:solidFill>
                <a:latin typeface="IBM Plex Sans"/>
              </a:rPr>
              <a:t>    Несколько позиций одновременно: создание, копирование, переименование</a:t>
            </a:r>
          </a:p>
          <a:p>
            <a:pPr>
              <a:spcAft>
                <a:spcPts val="1600"/>
              </a:spcAft>
            </a:pPr>
            <a:r>
              <a:rPr sz="1500" b="1">
                <a:solidFill>
                  <a:srgbClr val="F08A24"/>
                </a:solidFill>
                <a:latin typeface="IBM Plex Sans"/>
              </a:rPr>
              <a:t>●  Импорт/экспорт JSON</a:t>
            </a:r>
          </a:p>
          <a:p>
            <a:pPr>
              <a:spcAft>
                <a:spcPts val="1600"/>
              </a:spcAft>
            </a:pPr>
            <a:r>
              <a:rPr sz="1300">
                <a:solidFill>
                  <a:srgbClr val="8A93A0"/>
                </a:solidFill>
                <a:latin typeface="IBM Plex Sans"/>
              </a:rPr>
              <a:t>    Резервное копирование и обмен схемами между специалистами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93A0"/>
                </a:solidFill>
                <a:latin typeface="IBM Plex Sans"/>
              </a:rPr>
              <a:t>Схема аварийного участка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60196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93A0"/>
                </a:solidFill>
                <a:latin typeface="IBM Plex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3E6EB"/>
                </a:solidFill>
                <a:latin typeface="IBM Plex Sans"/>
              </a:rPr>
              <a:t>Библиотека символов по ГОСТ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640080" cy="54864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611880" cy="2103120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73152" cy="2103120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3E6EB"/>
                </a:solidFill>
                <a:latin typeface="IBM Plex Sans"/>
              </a:rPr>
              <a:t>Аварийные зоны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84832"/>
            <a:ext cx="3154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93A0"/>
                </a:solidFill>
                <a:latin typeface="IBM Plex Sans"/>
              </a:rPr>
              <a:t>Очаг пожара, место взрыва, загазованность,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93A0"/>
                </a:solidFill>
                <a:latin typeface="IBM Plex Sans"/>
              </a:rPr>
              <a:t>затопление, обрушение, электроопасность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611880" cy="2103120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73152" cy="2103120"/>
          </a:xfrm>
          <a:prstGeom prst="rect">
            <a:avLst/>
          </a:prstGeom>
          <a:solidFill>
            <a:srgbClr val="228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2763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3E6EB"/>
                </a:solidFill>
                <a:latin typeface="IBM Plex Sans"/>
              </a:rPr>
              <a:t>Персонал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84832"/>
            <a:ext cx="3154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93A0"/>
                </a:solidFill>
                <a:latin typeface="IBM Plex Sans"/>
              </a:rPr>
              <a:t>Рабочий, пострадавший, спасатель,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93A0"/>
                </a:solidFill>
                <a:latin typeface="IBM Plex Sans"/>
              </a:rPr>
              <a:t>командир, медик, группа людей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463040"/>
            <a:ext cx="3611880" cy="2103120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73152" cy="210312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62763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3E6EB"/>
                </a:solidFill>
                <a:latin typeface="IBM Plex Sans"/>
              </a:rPr>
              <a:t>Отделения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084832"/>
            <a:ext cx="3154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93A0"/>
                </a:solidFill>
                <a:latin typeface="IBM Plex Sans"/>
              </a:rPr>
              <a:t>Отделение в движении,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93A0"/>
                </a:solidFill>
                <a:latin typeface="IBM Plex Sans"/>
              </a:rPr>
              <a:t>отделение на месте работ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794760"/>
            <a:ext cx="3611880" cy="2103120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794760"/>
            <a:ext cx="73152" cy="2103120"/>
          </a:xfrm>
          <a:prstGeom prst="rect">
            <a:avLst/>
          </a:prstGeom>
          <a:solidFill>
            <a:srgbClr val="228B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95935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3E6EB"/>
                </a:solidFill>
                <a:latin typeface="IBM Plex Sans"/>
              </a:rPr>
              <a:t>Инфраструктура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16552"/>
            <a:ext cx="3154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93A0"/>
                </a:solidFill>
                <a:latin typeface="IBM Plex Sans"/>
              </a:rPr>
              <a:t>Шахтный ствол, выработка, вентиляция,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93A0"/>
                </a:solidFill>
                <a:latin typeface="IBM Plex Sans"/>
              </a:rPr>
              <a:t>насосная, подстанция, склад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794760"/>
            <a:ext cx="3611880" cy="2103120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3794760"/>
            <a:ext cx="73152" cy="210312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95935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3E6EB"/>
                </a:solidFill>
                <a:latin typeface="IBM Plex Sans"/>
              </a:rPr>
              <a:t>Оборудование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416552"/>
            <a:ext cx="3154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93A0"/>
                </a:solidFill>
                <a:latin typeface="IBM Plex Sans"/>
              </a:rPr>
              <a:t>Огнетушитель, самоспасатель,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93A0"/>
                </a:solidFill>
                <a:latin typeface="IBM Plex Sans"/>
              </a:rPr>
              <a:t>аптечка, буровая машина, датчик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794760"/>
            <a:ext cx="3611880" cy="2103120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794760"/>
            <a:ext cx="73152" cy="2103120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3959352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E3E6EB"/>
                </a:solidFill>
                <a:latin typeface="IBM Plex Sans"/>
              </a:rPr>
              <a:t>Маршруты и измерения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4416552"/>
            <a:ext cx="3154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93A0"/>
                </a:solidFill>
                <a:latin typeface="IBM Plex Sans"/>
              </a:rPr>
              <a:t>Пути эвакуации, сборный пункт,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8A93A0"/>
                </a:solidFill>
                <a:latin typeface="IBM Plex Sans"/>
              </a:rPr>
              <a:t>север, отметка глубины, масштаб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60196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93A0"/>
                </a:solidFill>
                <a:latin typeface="IBM Plex Sans"/>
              </a:rPr>
              <a:t>Схема аварийного участка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60196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93A0"/>
                </a:solidFill>
                <a:latin typeface="IBM Plex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3E6EB"/>
                </a:solidFill>
                <a:latin typeface="IBM Plex Sans"/>
              </a:rPr>
              <a:t>Экспорт и печать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640080" cy="54864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2606040" cy="3291840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08A24"/>
                </a:solidFill>
                <a:latin typeface="IBM Plex Sans"/>
              </a:rPr>
              <a:t>PDF / Печать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22402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A93A0"/>
                </a:solidFill>
                <a:latin typeface="IBM Plex Sans"/>
              </a:rPr>
              <a:t>Готовый документ формата А4 (альбомная ориентация) — на печать или для отправки в штаб ГСС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828800"/>
            <a:ext cx="2606040" cy="3291840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10312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08A24"/>
                </a:solidFill>
                <a:latin typeface="IBM Plex Sans"/>
              </a:rPr>
              <a:t>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697480"/>
            <a:ext cx="22402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A93A0"/>
                </a:solidFill>
                <a:latin typeface="IBM Plex Sans"/>
              </a:rPr>
              <a:t>Изображение схемы высокого качества со всеми обозначениями и легендой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2606040" cy="3291840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08A24"/>
                </a:solidFill>
                <a:latin typeface="IBM Plex Sans"/>
              </a:rPr>
              <a:t>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97480"/>
            <a:ext cx="22402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A93A0"/>
                </a:solidFill>
                <a:latin typeface="IBM Plex Sans"/>
              </a:rPr>
              <a:t>Полная выгрузка данных схемы для журналов и отчётности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828800"/>
            <a:ext cx="2606040" cy="3291840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10312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08A24"/>
                </a:solidFill>
                <a:latin typeface="IBM Plex Sans"/>
              </a:rPr>
              <a:t>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697480"/>
            <a:ext cx="22402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8A93A0"/>
                </a:solidFill>
                <a:latin typeface="IBM Plex Sans"/>
              </a:rPr>
              <a:t>Резервная копия и обмен схемами между специалистами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60196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93A0"/>
                </a:solidFill>
                <a:latin typeface="IBM Plex Sans"/>
              </a:rPr>
              <a:t>Схема аварийного участка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60196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93A0"/>
                </a:solidFill>
                <a:latin typeface="IBM Plex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3E6EB"/>
                </a:solidFill>
                <a:latin typeface="IBM Plex Sans"/>
              </a:rPr>
              <a:t>Доступ и лицензирование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640080" cy="54864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120640" cy="4023360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120640" cy="73152"/>
          </a:xfrm>
          <a:prstGeom prst="rect">
            <a:avLst/>
          </a:prstGeom>
          <a:solidFill>
            <a:srgbClr val="8A9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E3E6EB"/>
                </a:solidFill>
                <a:latin typeface="IBM Plex Sans"/>
              </a:rPr>
              <a:t>Демо-доступ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8A93A0"/>
                </a:solidFill>
                <a:latin typeface="IBM Plex Sans"/>
              </a:rPr>
              <a:t>●  10 дней бесплатного использования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8A93A0"/>
                </a:solidFill>
                <a:latin typeface="IBM Plex Sans"/>
              </a:rPr>
              <a:t>●  Просмотр и заполнение формы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8A93A0"/>
                </a:solidFill>
                <a:latin typeface="IBM Plex Sans"/>
              </a:rPr>
              <a:t>●  Без экспорта в PDF / PNG / Excel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8A93A0"/>
                </a:solidFill>
                <a:latin typeface="IBM Plex Sans"/>
              </a:rPr>
              <a:t>●  Без символов по ГОСТ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554480"/>
            <a:ext cx="5486400" cy="4023360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0" y="1554480"/>
            <a:ext cx="5486400" cy="73152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E3E6EB"/>
                </a:solidFill>
                <a:latin typeface="IBM Plex Sans"/>
              </a:rPr>
              <a:t>Полная лицензия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77440"/>
            <a:ext cx="4937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 b="1">
                <a:solidFill>
                  <a:srgbClr val="F08A24"/>
                </a:solidFill>
                <a:latin typeface="IBM Plex Sans"/>
              </a:rPr>
              <a:t>●  Активация ключом формата XXXX-XXXX-XXXX-XXXX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F08A24"/>
                </a:solidFill>
                <a:latin typeface="IBM Plex Sans"/>
              </a:rPr>
              <a:t>●  Полный доступ ко всем функциям и экспорту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F08A24"/>
                </a:solidFill>
                <a:latin typeface="IBM Plex Sans"/>
              </a:rPr>
              <a:t>●  Проверка подлинности ключа на сервере</a:t>
            </a:r>
          </a:p>
          <a:p>
            <a:pPr>
              <a:spcAft>
                <a:spcPts val="1400"/>
              </a:spcAft>
            </a:pPr>
            <a:r>
              <a:rPr sz="1400" b="1">
                <a:solidFill>
                  <a:srgbClr val="F08A24"/>
                </a:solidFill>
                <a:latin typeface="IBM Plex Sans"/>
              </a:rPr>
              <a:t>●  Уведомление об истечении срока действия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60196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93A0"/>
                </a:solidFill>
                <a:latin typeface="IBM Plex Sans"/>
              </a:rPr>
              <a:t>Схема аварийного участка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60196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93A0"/>
                </a:solidFill>
                <a:latin typeface="IBM Plex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E3E6EB"/>
                </a:solidFill>
                <a:latin typeface="IBM Plex Sans"/>
              </a:rPr>
              <a:t>Для кого предназначена программа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640080" cy="54864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800" b="1">
                <a:solidFill>
                  <a:srgbClr val="F08A24"/>
                </a:solidFill>
                <a:latin typeface="IBM Plex Sans"/>
              </a:rPr>
              <a:t>●  Горноспасательные службы и аварийно-спасательные отряды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F08A24"/>
                </a:solidFill>
                <a:latin typeface="IBM Plex Sans"/>
              </a:rPr>
              <a:t>●  Горнодобывающие предприятия — диспетчеры, начальники смен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F08A24"/>
                </a:solidFill>
                <a:latin typeface="IBM Plex Sans"/>
              </a:rPr>
              <a:t>●  Инженеры и специалисты по промышленной безопасности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F08A24"/>
                </a:solidFill>
                <a:latin typeface="IBM Plex Sans"/>
              </a:rPr>
              <a:t>●  Регулирующие органы и инспекторы — проверка соответствия ГОСТ</a:t>
            </a:r>
          </a:p>
          <a:p>
            <a:pPr>
              <a:spcAft>
                <a:spcPts val="2000"/>
              </a:spcAft>
            </a:pPr>
            <a:r>
              <a:rPr sz="1800" b="1">
                <a:solidFill>
                  <a:srgbClr val="F08A24"/>
                </a:solidFill>
                <a:latin typeface="IBM Plex Sans"/>
              </a:rPr>
              <a:t>●  Образовательные учреждения — обучение горнодобывающего персонала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B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60196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8A93A0"/>
                </a:solidFill>
                <a:latin typeface="IBM Plex Sans"/>
              </a:rPr>
              <a:t>Схема аварийного участка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60196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8A93A0"/>
                </a:solidFill>
                <a:latin typeface="IBM Plex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280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E3E6EB"/>
                </a:solidFill>
                <a:latin typeface="IBM Plex Sans"/>
              </a:rPr>
              <a:t>Готовая схема — за минуты, а не часы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8A93A0"/>
                </a:solidFill>
                <a:latin typeface="IBM Plex Sans"/>
              </a:rPr>
              <a:t>Схема аварийного участка — быстрое и точное оформление документов по ГОСТ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08A24"/>
                </a:solidFill>
                <a:latin typeface="IBM Plex Sans"/>
              </a:rP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